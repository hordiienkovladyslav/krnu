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inzel"/>
      <p:bold r:id="rId21"/>
    </p:embeddedFont>
    <p:embeddedFont>
      <p:font typeface="Plus Jakarta Sans"/>
      <p:bold r:id="rId22"/>
      <p:italic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5348316"/>
            <a:ext cx="762000" cy="28575"/>
          </a:xfrm>
          <a:prstGeom prst="rect">
            <a:avLst/>
          </a:prstGeom>
          <a:solidFill>
            <a:srgbClr val="8C2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98943" y="1983134"/>
            <a:ext cx="439396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D97706"/>
                </a:solidFill>
                <a:latin typeface="Cinzel"/>
              </a:rPr>
              <a:t>АНТИЧНА ФІЛОСОФІЯ ТА НАУКА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296" y="2373659"/>
            <a:ext cx="11251406" cy="1314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175"/>
              </a:lnSpc>
            </a:pPr>
            <a:r>
              <a:rPr sz="4500" b="1" i="0" u="none">
                <a:solidFill>
                  <a:srgbClr val="FAF9F5"/>
                </a:solidFill>
                <a:latin typeface="Cinzel"/>
              </a:rPr>
              <a:t>Арістотель: Фундатор системи знань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8812" y="3916709"/>
            <a:ext cx="8334375" cy="1161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sz="1650" b="0" i="0" u="none" dirty="0" err="1">
                <a:solidFill>
                  <a:srgbClr val="A8A29E"/>
                </a:solidFill>
                <a:latin typeface="Plus Jakarta Sans"/>
              </a:rPr>
              <a:t>Великий</a:t>
            </a:r>
            <a:r>
              <a:rPr sz="1650" b="0" i="0" u="none" dirty="0">
                <a:solidFill>
                  <a:srgbClr val="A8A29E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A8A29E"/>
                </a:solidFill>
                <a:latin typeface="Plus Jakarta Sans"/>
              </a:rPr>
              <a:t>мислитель</a:t>
            </a:r>
            <a:r>
              <a:rPr sz="1650" b="0" i="0" u="none" dirty="0">
                <a:solidFill>
                  <a:srgbClr val="A8A29E"/>
                </a:solidFill>
                <a:latin typeface="Plus Jakarta Sans"/>
              </a:rPr>
              <a:t>, </a:t>
            </a:r>
            <a:r>
              <a:rPr sz="1650" b="0" i="0" u="none" dirty="0" err="1">
                <a:solidFill>
                  <a:srgbClr val="A8A29E"/>
                </a:solidFill>
                <a:latin typeface="Plus Jakarta Sans"/>
              </a:rPr>
              <a:t>який</a:t>
            </a:r>
            <a:r>
              <a:rPr sz="1650" b="0" i="0" u="none" dirty="0">
                <a:solidFill>
                  <a:srgbClr val="A8A29E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A8A29E"/>
                </a:solidFill>
                <a:latin typeface="Plus Jakarta Sans"/>
              </a:rPr>
              <a:t>класифікував</a:t>
            </a:r>
            <a:r>
              <a:rPr sz="1650" b="0" i="0" u="none" dirty="0">
                <a:solidFill>
                  <a:srgbClr val="A8A29E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A8A29E"/>
                </a:solidFill>
                <a:latin typeface="Plus Jakarta Sans"/>
              </a:rPr>
              <a:t>людське</a:t>
            </a:r>
            <a:r>
              <a:rPr sz="1650" b="0" i="0" u="none" dirty="0">
                <a:solidFill>
                  <a:srgbClr val="A8A29E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A8A29E"/>
                </a:solidFill>
                <a:latin typeface="Plus Jakarta Sans"/>
              </a:rPr>
              <a:t>знання</a:t>
            </a:r>
            <a:r>
              <a:rPr sz="1650" b="0" i="0" u="none" dirty="0">
                <a:solidFill>
                  <a:srgbClr val="A8A29E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A8A29E"/>
                </a:solidFill>
                <a:latin typeface="Plus Jakarta Sans"/>
              </a:rPr>
              <a:t>та</a:t>
            </a:r>
            <a:r>
              <a:rPr sz="1650" b="0" i="0" u="none" dirty="0">
                <a:solidFill>
                  <a:srgbClr val="A8A29E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A8A29E"/>
                </a:solidFill>
                <a:latin typeface="Plus Jakarta Sans"/>
              </a:rPr>
              <a:t>заклав</a:t>
            </a:r>
            <a:r>
              <a:rPr sz="1650" b="0" i="0" u="none" dirty="0">
                <a:solidFill>
                  <a:srgbClr val="A8A29E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A8A29E"/>
                </a:solidFill>
                <a:latin typeface="Plus Jakarta Sans"/>
              </a:rPr>
              <a:t>основи</a:t>
            </a:r>
            <a:r>
              <a:rPr sz="1650" b="0" i="0" u="none" dirty="0">
                <a:solidFill>
                  <a:srgbClr val="A8A29E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A8A29E"/>
                </a:solidFill>
                <a:latin typeface="Plus Jakarta Sans"/>
              </a:rPr>
              <a:t>сучасної</a:t>
            </a:r>
            <a:r>
              <a:rPr sz="1650" b="0" i="0" u="none" dirty="0">
                <a:solidFill>
                  <a:srgbClr val="A8A29E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A8A29E"/>
                </a:solidFill>
                <a:latin typeface="Plus Jakarta Sans"/>
              </a:rPr>
              <a:t>науки</a:t>
            </a:r>
            <a:endParaRPr lang="uk-UA" sz="1650" b="0" i="0" u="none">
              <a:solidFill>
                <a:srgbClr val="A8A29E"/>
              </a:solidFill>
              <a:latin typeface="Plus Jakarta Sans"/>
            </a:endParaRPr>
          </a:p>
          <a:p>
            <a:pPr algn="ctr">
              <a:lnSpc>
                <a:spcPts val="2310"/>
              </a:lnSpc>
            </a:pPr>
            <a:endParaRPr lang="en-US" sz="1650" b="0" i="0" u="none" dirty="0">
              <a:solidFill>
                <a:srgbClr val="A8A29E"/>
              </a:solidFill>
              <a:latin typeface="Plus Jakarta Sans"/>
            </a:endParaRPr>
          </a:p>
          <a:p>
            <a:pPr algn="ctr">
              <a:lnSpc>
                <a:spcPts val="2310"/>
              </a:lnSpc>
            </a:pPr>
            <a:r>
              <a:rPr lang="uk-UA" sz="1650" b="0" i="0" u="none" dirty="0">
                <a:solidFill>
                  <a:srgbClr val="A8A29E"/>
                </a:solidFill>
                <a:latin typeface="Plus Jakarta Sans"/>
              </a:rPr>
              <a:t>Виконав студент групи КН-25-1</a:t>
            </a:r>
          </a:p>
          <a:p>
            <a:pPr algn="ctr">
              <a:lnSpc>
                <a:spcPts val="2310"/>
              </a:lnSpc>
            </a:pPr>
            <a:r>
              <a:rPr lang="uk-UA" sz="1650" dirty="0">
                <a:solidFill>
                  <a:srgbClr val="A8A29E"/>
                </a:solidFill>
                <a:latin typeface="Plus Jakarta Sans"/>
              </a:rPr>
              <a:t>Гордієнко Владислав</a:t>
            </a:r>
            <a:endParaRPr sz="1650" b="0" i="0" u="none" dirty="0">
              <a:solidFill>
                <a:srgbClr val="A8A29E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876800" y="2252662"/>
            <a:ext cx="67056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876800" y="3433762"/>
            <a:ext cx="67056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876800" y="4614862"/>
            <a:ext cx="67056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876800" y="2252662"/>
            <a:ext cx="38100" cy="990600"/>
          </a:xfrm>
          <a:prstGeom prst="rect">
            <a:avLst/>
          </a:prstGeom>
          <a:solidFill>
            <a:srgbClr val="8C2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876800" y="3433762"/>
            <a:ext cx="38100" cy="9906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76800" y="4614862"/>
            <a:ext cx="38100" cy="990600"/>
          </a:xfrm>
          <a:prstGeom prst="rect">
            <a:avLst/>
          </a:prstGeom>
          <a:solidFill>
            <a:srgbClr val="8C2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43062"/>
            <a:ext cx="3810000" cy="4572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43062"/>
            <a:ext cx="38100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C2D19"/>
                </a:solidFill>
                <a:latin typeface="Cinzel"/>
              </a:rPr>
              <a:t>ЖИТТЄВИЙ ШЛЯХ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C1917"/>
                </a:solidFill>
                <a:latin typeface="Plus Jakarta Sans"/>
              </a:rPr>
              <a:t>Основні віхи життя Стагірита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3500" y="2481262"/>
            <a:ext cx="70485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384 р. до н.е. — Народження у Стагірі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3500" y="2786062"/>
            <a:ext cx="7048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Син придворного лікаря македонського царя Амінти III.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3500" y="3662362"/>
            <a:ext cx="70485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367–347 рр. до н.е. — Академія Платона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3500" y="3967162"/>
            <a:ext cx="7048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Двадцять років навчання та роботи в Афінах.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3500" y="4843462"/>
            <a:ext cx="70485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322 р. до н.е. — Завершення шляху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3500" y="5148262"/>
            <a:ext cx="7048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Відхід із життя на острові Евбея у віці 62 років.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686425"/>
            <a:ext cx="10972800" cy="714375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462212"/>
            <a:ext cx="5334000" cy="1990725"/>
          </a:xfrm>
          <a:prstGeom prst="roundRect">
            <a:avLst>
              <a:gd name="adj" fmla="val 57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48400" y="2576512"/>
            <a:ext cx="5334000" cy="1762125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475" y="2767012"/>
            <a:ext cx="47625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1087" y="2881312"/>
            <a:ext cx="428625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C2D19"/>
                </a:solidFill>
                <a:latin typeface="Cinzel"/>
              </a:rPr>
              <a:t>ФІЛОСОФСЬКА ДИСКУСІЯ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C1917"/>
                </a:solidFill>
                <a:latin typeface="Plus Jakarta Sans"/>
              </a:rPr>
              <a:t>Платон та Арістотель: Полеміка про ідеї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238125" y="5915025"/>
            <a:ext cx="1266825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8C2D19"/>
                </a:solidFill>
                <a:latin typeface="Cinzel"/>
              </a:rPr>
              <a:t>«Платон мені друг, але істина дорожча.»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212" y="3300412"/>
            <a:ext cx="62007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1C1917"/>
                </a:solidFill>
                <a:latin typeface="Plus Jakarta Sans"/>
              </a:rPr>
              <a:t>Позиція Платона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850" y="3690937"/>
            <a:ext cx="5905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B5563"/>
                </a:solidFill>
                <a:latin typeface="Plus Jakarta Sans"/>
              </a:rPr>
              <a:t>Ідеї існують у відокремленому вищому світі надматеріального.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5012" y="3414712"/>
            <a:ext cx="62007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1C1917"/>
                </a:solidFill>
                <a:latin typeface="Plus Jakarta Sans"/>
              </a:rPr>
              <a:t>Позиція Арістотеля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2650" y="3805237"/>
            <a:ext cx="5905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B5563"/>
                </a:solidFill>
                <a:latin typeface="Plus Jakarta Sans"/>
              </a:rPr>
              <a:t>Форма існує всередині самого речі як її сутність.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52662"/>
            <a:ext cx="63246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433762"/>
            <a:ext cx="63246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614862"/>
            <a:ext cx="63246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0" y="1738312"/>
            <a:ext cx="4191000" cy="4381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1738312"/>
            <a:ext cx="4191000" cy="438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C2D19"/>
                </a:solidFill>
                <a:latin typeface="Cinzel"/>
              </a:rPr>
              <a:t>ІСТОРИЧНИЙ СОЮЗ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C1917"/>
                </a:solidFill>
                <a:latin typeface="Plus Jakarta Sans"/>
              </a:rPr>
              <a:t>Виховання Александра Великого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481262"/>
            <a:ext cx="770096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Запрошення Філіппа 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786062"/>
            <a:ext cx="73342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Навчання юного принца у місті Мієза у 343 р. до н.е.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662362"/>
            <a:ext cx="770096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Предмети викладання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967162"/>
            <a:ext cx="73342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Етика, політика, медицина, поезія Гомера та географія.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843462"/>
            <a:ext cx="770096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Культурний результат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5148262"/>
            <a:ext cx="73342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Поширення еллінізму та заснування наукових архівів.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257800" y="2252662"/>
            <a:ext cx="63246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257800" y="3433762"/>
            <a:ext cx="63246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257800" y="4614862"/>
            <a:ext cx="63246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38312"/>
            <a:ext cx="4191000" cy="4381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8312"/>
            <a:ext cx="4191000" cy="438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C2D19"/>
                </a:solidFill>
                <a:latin typeface="Cinzel"/>
              </a:rPr>
              <a:t>ВЛАСНА ШКОЛА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C1917"/>
                </a:solidFill>
                <a:latin typeface="Plus Jakarta Sans"/>
              </a:rPr>
              <a:t>Заснування Лікею та школа перипатетиків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481262"/>
            <a:ext cx="67056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335 р. до н.е. — Відкриття Лікею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786062"/>
            <a:ext cx="6705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Заснування наукового центру біля храму Аполлона Лікейського.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662362"/>
            <a:ext cx="67056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Школа перипатетиків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967162"/>
            <a:ext cx="6705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Проведення лекцій і філософських дискусій під час прогулянок.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4843462"/>
            <a:ext cx="67056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Багата бібліотека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148262"/>
            <a:ext cx="6705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Збирання перших рукописів, мап та біологічних зразків.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10250" y="3762375"/>
            <a:ext cx="571500" cy="285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41180" y="2628900"/>
            <a:ext cx="2109638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8C2D19"/>
                </a:solidFill>
                <a:latin typeface="Cinzel"/>
              </a:rPr>
              <a:t>ЧАСТИНА ПЕРША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1326" y="2952750"/>
            <a:ext cx="8269197" cy="619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1C1917"/>
                </a:solidFill>
                <a:latin typeface="Cinzel"/>
              </a:rPr>
              <a:t>Філософська система та наука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91265" y="3981450"/>
            <a:ext cx="580931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4B5563"/>
                </a:solidFill>
                <a:latin typeface="Plus Jakarta Sans"/>
              </a:rPr>
              <a:t>Аналіз логіки, метафізики та природничих досліджень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43237"/>
            <a:ext cx="3505200" cy="177165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43237"/>
            <a:ext cx="3505200" cy="177165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43237"/>
            <a:ext cx="3505200" cy="177165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309937"/>
            <a:ext cx="3429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309937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3309937"/>
            <a:ext cx="3810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C2D19"/>
                </a:solidFill>
                <a:latin typeface="Cinzel"/>
              </a:rPr>
              <a:t>ІНСТРУМЕНТ ПІЗНАННЯ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C1917"/>
                </a:solidFill>
                <a:latin typeface="Plus Jakarta Sans"/>
              </a:rPr>
              <a:t>Формальна логіка та «Органон»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767137"/>
            <a:ext cx="39004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Теорія силогізму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090987"/>
            <a:ext cx="3067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Дедуктивний висновок із двох логічних засновків.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767137"/>
            <a:ext cx="39004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10 категорій буття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4090987"/>
            <a:ext cx="3067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Класифікація властивостей: сутність, кількість, якість.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767137"/>
            <a:ext cx="38481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Закони мислення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4090987"/>
            <a:ext cx="3067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Закони тотожності, суперечності та виключеного третього.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47962"/>
            <a:ext cx="53721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747962"/>
            <a:ext cx="53721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043362"/>
            <a:ext cx="53721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4043362"/>
            <a:ext cx="53721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C2D19"/>
                </a:solidFill>
                <a:latin typeface="Cinzel"/>
              </a:rPr>
              <a:t>ПЕРША ФІЛОСОФІЯ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C1917"/>
                </a:solidFill>
                <a:latin typeface="Plus Jakarta Sans"/>
              </a:rPr>
              <a:t>Чотири причини існування речей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014662"/>
            <a:ext cx="635079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8C2D19"/>
                </a:solidFill>
                <a:latin typeface="Plus Jakarta Sans"/>
              </a:rPr>
              <a:t>1. Матеріальна причина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319462"/>
            <a:ext cx="6048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Пасивний матеріал, із якого виготовлено річ.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3014662"/>
            <a:ext cx="5715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8C2D19"/>
                </a:solidFill>
                <a:latin typeface="Plus Jakarta Sans"/>
              </a:rPr>
              <a:t>2. Формальна причина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319462"/>
            <a:ext cx="5715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Сутність, проєкт та структура об'єкта.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310062"/>
            <a:ext cx="635079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8C2D19"/>
                </a:solidFill>
                <a:latin typeface="Plus Jakarta Sans"/>
              </a:rPr>
              <a:t>3. Дійсна причина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614862"/>
            <a:ext cx="6048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Джерело руху, творець або імпульс зміні.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4310062"/>
            <a:ext cx="5715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8C2D19"/>
                </a:solidFill>
                <a:latin typeface="Plus Jakarta Sans"/>
              </a:rPr>
              <a:t>4. Цільова причина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4614862"/>
            <a:ext cx="5715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Кінцева мета та призначення існування.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14637"/>
            <a:ext cx="3454449" cy="22288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928937"/>
            <a:ext cx="3454449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2928937"/>
            <a:ext cx="3454449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3233737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649" y="3233737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C2D19"/>
                </a:solidFill>
                <a:latin typeface="Cinzel"/>
              </a:rPr>
              <a:t>ПРИРОДОЗНАВСТВО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C1917"/>
                </a:solidFill>
                <a:latin typeface="Plus Jakarta Sans"/>
              </a:rPr>
              <a:t>Фундатор біології та емпіричного аналізу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793" y="3119437"/>
            <a:ext cx="3556062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8C2D19"/>
                </a:solidFill>
                <a:latin typeface="Plus Jakarta Sans"/>
              </a:rPr>
              <a:t>500+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892" y="3957637"/>
            <a:ext cx="373386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C1917"/>
                </a:solidFill>
                <a:latin typeface="Plus Jakarta Sans"/>
              </a:rPr>
              <a:t>Описаних видів тварин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793" y="4281487"/>
            <a:ext cx="35560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B5563"/>
                </a:solidFill>
                <a:latin typeface="Plus Jakarta Sans"/>
              </a:rPr>
              <a:t>Перша систематична класифікація в історії.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9141" y="3843337"/>
            <a:ext cx="373386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C1917"/>
                </a:solidFill>
                <a:latin typeface="Plus Jakarta Sans"/>
              </a:rPr>
              <a:t>Емпіричний метод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8043" y="4167187"/>
            <a:ext cx="35560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B5563"/>
                </a:solidFill>
                <a:latin typeface="Plus Jakarta Sans"/>
              </a:rPr>
              <a:t>Спостереження та розтин організмів.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8391" y="3843337"/>
            <a:ext cx="373386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C1917"/>
                </a:solidFill>
                <a:latin typeface="Plus Jakarta Sans"/>
              </a:rPr>
              <a:t>Телеологія природи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7293" y="4167187"/>
            <a:ext cx="35560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B5563"/>
                </a:solidFill>
                <a:latin typeface="Plus Jakarta Sans"/>
              </a:rPr>
              <a:t>Переконання, що природа не робить нічого даремно.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57500"/>
            <a:ext cx="56388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4162425"/>
            <a:ext cx="5029200" cy="533400"/>
          </a:xfrm>
          <a:prstGeom prst="roundRect">
            <a:avLst>
              <a:gd name="adj" fmla="val 14285"/>
            </a:avLst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53200" y="2519362"/>
            <a:ext cx="50292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53200" y="3509962"/>
            <a:ext cx="50292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53200" y="4500562"/>
            <a:ext cx="50292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C2D19"/>
                </a:solidFill>
                <a:latin typeface="Cinzel"/>
              </a:rPr>
              <a:t>ПРАКТИЧНА ФІЛОСОФІЯ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C1917"/>
                </a:solidFill>
                <a:latin typeface="Plus Jakarta Sans"/>
              </a:rPr>
              <a:t>Етика та вчення про «Золоту середину»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62300"/>
            <a:ext cx="660082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8C2D19"/>
                </a:solidFill>
                <a:latin typeface="Plus Jakarta Sans"/>
              </a:rPr>
              <a:t>Концепція Евдемонії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52825"/>
            <a:ext cx="5124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Найвище благо для людини — це щастя через доброчесне життя.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4314825"/>
            <a:ext cx="5905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C1917"/>
                </a:solidFill>
                <a:latin typeface="Plus Jakarta Sans"/>
              </a:rPr>
              <a:t>Доброчесність — це середина між двома крайнощами.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3700" y="2709862"/>
            <a:ext cx="5448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C1917"/>
                </a:solidFill>
                <a:latin typeface="Plus Jakarta Sans"/>
              </a:rPr>
              <a:t>Мужність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3700" y="2938462"/>
            <a:ext cx="5448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Середина між боягузтвом та безрозсудністю.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3700" y="3700462"/>
            <a:ext cx="5448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C1917"/>
                </a:solidFill>
                <a:latin typeface="Plus Jakarta Sans"/>
              </a:rPr>
              <a:t>Щедрість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3700" y="3929062"/>
            <a:ext cx="5448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Середина між скупістю та марнотратством.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3700" y="4691062"/>
            <a:ext cx="5448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C1917"/>
                </a:solidFill>
                <a:latin typeface="Plus Jakarta Sans"/>
              </a:rPr>
              <a:t>Скромність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3700" y="4919662"/>
            <a:ext cx="54483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Середина між сором'язливістю та нахабством.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57325"/>
            <a:ext cx="10972800" cy="733425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600450"/>
            <a:ext cx="5372100" cy="161925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3600450"/>
            <a:ext cx="5372100" cy="161925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C2D19"/>
                </a:solidFill>
                <a:latin typeface="Cinzel"/>
              </a:rPr>
              <a:t>СУСПІЛЬНА ДУМКА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C1917"/>
                </a:solidFill>
                <a:latin typeface="Plus Jakarta Sans"/>
              </a:rPr>
              <a:t>Політика: Людина як суспільна істота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238125" y="1685925"/>
            <a:ext cx="126682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8C2D19"/>
                </a:solidFill>
                <a:latin typeface="Cinzel"/>
              </a:rPr>
              <a:t>«Людина за своєю природою — істота суспільна (Zoon Politikon).»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829050"/>
            <a:ext cx="645080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6A34A"/>
                </a:solidFill>
                <a:latin typeface="Plus Jakarta Sans"/>
              </a:rPr>
              <a:t>Правильні форми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191000"/>
            <a:ext cx="61436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• Монархія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476750"/>
            <a:ext cx="61436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• Аристократія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762500"/>
            <a:ext cx="61436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• Політія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3829050"/>
            <a:ext cx="57531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DC2626"/>
                </a:solidFill>
                <a:latin typeface="Plus Jakarta Sans"/>
              </a:rPr>
              <a:t>Викривлені форми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4191000"/>
            <a:ext cx="5753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• Тиранія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900" y="4476750"/>
            <a:ext cx="5753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• Олігархія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4762500"/>
            <a:ext cx="5753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• Демократія (охлократія)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28950"/>
            <a:ext cx="5334000" cy="1800225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3028950"/>
            <a:ext cx="5334000" cy="1800225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C2D19"/>
                </a:solidFill>
                <a:latin typeface="Cinzel"/>
              </a:rPr>
              <a:t>ГУМАНІТАРНІ ДИСЦИПЛІНИ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C1917"/>
                </a:solidFill>
                <a:latin typeface="Plus Jakarta Sans"/>
              </a:rPr>
              <a:t>Поетика та Риторика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3750"/>
            <a:ext cx="62007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8C2D19"/>
                </a:solidFill>
                <a:latin typeface="Plus Jakarta Sans"/>
              </a:rPr>
              <a:t>«Поетика» та Катарсис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24275"/>
            <a:ext cx="5905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Аналіз трагедії, драматурії та естетики.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7175"/>
            <a:ext cx="48196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C1917"/>
                </a:solidFill>
                <a:latin typeface="Plus Jakarta Sans"/>
              </a:rPr>
              <a:t>Катарсис — очищення душі через співпереживання та страх.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3333750"/>
            <a:ext cx="56388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D97706"/>
                </a:solidFill>
                <a:latin typeface="Plus Jakarta Sans"/>
              </a:rPr>
              <a:t>Три стовпи Риторики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3724275"/>
            <a:ext cx="5638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• </a:t>
            </a:r>
            <a:r>
              <a:rPr sz="1350" b="1" i="0" u="none">
                <a:solidFill>
                  <a:srgbClr val="4B5563"/>
                </a:solidFill>
                <a:latin typeface="Plus Jakarta Sans"/>
              </a:rPr>
              <a:t>Етос:</a:t>
            </a:r>
            <a:r>
              <a:rPr sz="1350" b="0" i="0" u="none">
                <a:solidFill>
                  <a:srgbClr val="4B5563"/>
                </a:solidFill>
                <a:latin typeface="Plus Jakarta Sans"/>
              </a:rPr>
              <a:t> Авторитет та мораль промовця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4010025"/>
            <a:ext cx="5638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• </a:t>
            </a:r>
            <a:r>
              <a:rPr sz="1350" b="1" i="0" u="none">
                <a:solidFill>
                  <a:srgbClr val="4B5563"/>
                </a:solidFill>
                <a:latin typeface="Plus Jakarta Sans"/>
              </a:rPr>
              <a:t>Пафос:</a:t>
            </a:r>
            <a:r>
              <a:rPr sz="1350" b="0" i="0" u="none">
                <a:solidFill>
                  <a:srgbClr val="4B5563"/>
                </a:solidFill>
                <a:latin typeface="Plus Jakarta Sans"/>
              </a:rPr>
              <a:t> Емоційний вплив на слухачів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4295775"/>
            <a:ext cx="5638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• </a:t>
            </a:r>
            <a:r>
              <a:rPr sz="1350" b="1" i="0" u="none">
                <a:solidFill>
                  <a:srgbClr val="4B5563"/>
                </a:solidFill>
                <a:latin typeface="Plus Jakarta Sans"/>
              </a:rPr>
              <a:t>Логос:</a:t>
            </a:r>
            <a:r>
              <a:rPr sz="1350" b="0" i="0" u="none">
                <a:solidFill>
                  <a:srgbClr val="4B5563"/>
                </a:solidFill>
                <a:latin typeface="Plus Jakarta Sans"/>
              </a:rPr>
              <a:t> Переконливість та докази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43237"/>
            <a:ext cx="3505200" cy="177165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43237"/>
            <a:ext cx="3505200" cy="177165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43237"/>
            <a:ext cx="3505200" cy="177165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309937"/>
            <a:ext cx="2667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309937"/>
            <a:ext cx="2286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3309937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C2D19"/>
                </a:solidFill>
                <a:latin typeface="Cinzel"/>
              </a:rPr>
              <a:t>СВІТОВИЙ ВПЛИВ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C1917"/>
                </a:solidFill>
                <a:latin typeface="Plus Jakarta Sans"/>
              </a:rPr>
              <a:t>Транзит знань через століття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767137"/>
            <a:ext cx="39004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Арабський Схід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090987"/>
            <a:ext cx="3067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Переклад праць Ал-Фарабі та Ібн Рушдом («Перший вчитель»).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767137"/>
            <a:ext cx="39004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Християнська схоластика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4090987"/>
            <a:ext cx="3067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Тома Аквінський інтегрував філософію в богослов'я.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767137"/>
            <a:ext cx="38481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Наукова революція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4090987"/>
            <a:ext cx="3067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База для розвитку науки Відродження та Нового часу.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38800" y="2252662"/>
            <a:ext cx="59436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38800" y="3433762"/>
            <a:ext cx="59436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38800" y="4614862"/>
            <a:ext cx="59436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38312"/>
            <a:ext cx="4572000" cy="4381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8312"/>
            <a:ext cx="4572000" cy="438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C2D19"/>
                </a:solidFill>
                <a:latin typeface="Cinzel"/>
              </a:rPr>
              <a:t>СПАДЩИНА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C1917"/>
                </a:solidFill>
                <a:latin typeface="Plus Jakarta Sans"/>
              </a:rPr>
              <a:t>Афінська школа та вічність думок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67400" y="2481262"/>
            <a:ext cx="63246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Символічний жест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7400" y="2786062"/>
            <a:ext cx="6324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Рука, опущена до землі, як символ реалізму та спостереження.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7400" y="3662362"/>
            <a:ext cx="63246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Науковий лексикон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7400" y="3967162"/>
            <a:ext cx="6324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Поняття «категорія», «матерія», «енергія», «потенціал».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7400" y="4843462"/>
            <a:ext cx="63246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Актуальність сьогодні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7400" y="5148262"/>
            <a:ext cx="6324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B5563"/>
                </a:solidFill>
                <a:latin typeface="Plus Jakarta Sans"/>
              </a:rPr>
              <a:t>Фундамент сучасної логіки, систематики та етики.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318891" y="3233737"/>
            <a:ext cx="7554069" cy="1114425"/>
          </a:xfrm>
          <a:prstGeom prst="roundRect">
            <a:avLst>
              <a:gd name="adj" fmla="val 10256"/>
            </a:avLst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318891" y="3233737"/>
            <a:ext cx="38100" cy="1114425"/>
          </a:xfrm>
          <a:prstGeom prst="rect">
            <a:avLst/>
          </a:prstGeom>
          <a:solidFill>
            <a:srgbClr val="8C2D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28952" y="1976437"/>
            <a:ext cx="1333946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D97706"/>
                </a:solidFill>
                <a:latin typeface="Cinzel"/>
              </a:rPr>
              <a:t>ПІДСУМОК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26" y="2338387"/>
            <a:ext cx="4693946" cy="666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AF9F5"/>
                </a:solidFill>
                <a:latin typeface="Cinzel"/>
              </a:rPr>
              <a:t>Дякую за увагу!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46119" y="3500437"/>
            <a:ext cx="853771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1" u="none">
                <a:solidFill>
                  <a:srgbClr val="D1D5DB"/>
                </a:solidFill>
                <a:latin typeface="Plus Jakarta Sans"/>
              </a:rPr>
              <a:t>«Розум полягає не лише в знаннях, а й у вмінні застосовувати їх на практиці.»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6119" y="3881437"/>
            <a:ext cx="853771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D97706"/>
                </a:solidFill>
                <a:latin typeface="Plus Jakarta Sans"/>
              </a:rPr>
              <a:t>— Арістотель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611</Words>
  <Application>Microsoft Office PowerPoint</Application>
  <PresentationFormat>Широкоэкранный</PresentationFormat>
  <Paragraphs>118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Plus Jakarta Sans</vt:lpstr>
      <vt:lpstr>Calibri</vt:lpstr>
      <vt:lpstr>Cinzel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MonSTeR _NAVI</cp:lastModifiedBy>
  <cp:revision>4</cp:revision>
  <dcterms:created xsi:type="dcterms:W3CDTF">2013-01-27T09:14:16Z</dcterms:created>
  <dcterms:modified xsi:type="dcterms:W3CDTF">2026-09-29T19:12:21Z</dcterms:modified>
  <cp:category/>
</cp:coreProperties>
</file>