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embeddedFontLs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Cinzel"/>
      <p:bold r:id="rId21"/>
    </p:embeddedFont>
    <p:embeddedFont>
      <p:font typeface="Plus Jakarta Sans"/>
      <p:bold r:id="rId22"/>
      <p:italic r:id="rId2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7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0" y="5824361"/>
            <a:ext cx="762000" cy="28575"/>
          </a:xfrm>
          <a:prstGeom prst="rect">
            <a:avLst/>
          </a:prstGeom>
          <a:solidFill>
            <a:srgbClr val="852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78709" y="2027039"/>
            <a:ext cx="343458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B45309"/>
                </a:solidFill>
                <a:latin typeface="Cinzel"/>
              </a:rPr>
              <a:t>ФІЛОСОФІЯ XX СТОЛІТТЯ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5281" y="2417564"/>
            <a:ext cx="11501437" cy="1226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830"/>
              </a:lnSpc>
            </a:pPr>
            <a:r>
              <a:rPr sz="4200" b="1" i="0" u="none">
                <a:solidFill>
                  <a:srgbClr val="FAFAF9"/>
                </a:solidFill>
                <a:latin typeface="Cinzel"/>
              </a:rPr>
              <a:t>Людина та її свобода у філософії екзистенціалізму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9750" y="3872805"/>
            <a:ext cx="8572500" cy="14568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310"/>
              </a:lnSpc>
            </a:pPr>
            <a:r>
              <a:rPr sz="1650" b="0" i="0" u="none" dirty="0" err="1">
                <a:solidFill>
                  <a:srgbClr val="A8A29E"/>
                </a:solidFill>
                <a:latin typeface="Plus Jakarta Sans"/>
              </a:rPr>
              <a:t>Пошук</a:t>
            </a:r>
            <a:r>
              <a:rPr sz="1650" b="0" i="0" u="none" dirty="0">
                <a:solidFill>
                  <a:srgbClr val="A8A29E"/>
                </a:solidFill>
                <a:latin typeface="Plus Jakarta Sans"/>
              </a:rPr>
              <a:t> </a:t>
            </a:r>
            <a:r>
              <a:rPr sz="1650" b="0" i="0" u="none" dirty="0" err="1">
                <a:solidFill>
                  <a:srgbClr val="A8A29E"/>
                </a:solidFill>
                <a:latin typeface="Plus Jakarta Sans"/>
              </a:rPr>
              <a:t>сенсу</a:t>
            </a:r>
            <a:r>
              <a:rPr sz="1650" b="0" i="0" u="none" dirty="0">
                <a:solidFill>
                  <a:srgbClr val="A8A29E"/>
                </a:solidFill>
                <a:latin typeface="Plus Jakarta Sans"/>
              </a:rPr>
              <a:t>, </a:t>
            </a:r>
            <a:r>
              <a:rPr sz="1650" b="0" i="0" u="none" dirty="0" err="1">
                <a:solidFill>
                  <a:srgbClr val="A8A29E"/>
                </a:solidFill>
                <a:latin typeface="Plus Jakarta Sans"/>
              </a:rPr>
              <a:t>тягар</a:t>
            </a:r>
            <a:r>
              <a:rPr sz="1650" b="0" i="0" u="none" dirty="0">
                <a:solidFill>
                  <a:srgbClr val="A8A29E"/>
                </a:solidFill>
                <a:latin typeface="Plus Jakarta Sans"/>
              </a:rPr>
              <a:t> </a:t>
            </a:r>
            <a:r>
              <a:rPr sz="1650" b="0" i="0" u="none" dirty="0" err="1">
                <a:solidFill>
                  <a:srgbClr val="A8A29E"/>
                </a:solidFill>
                <a:latin typeface="Plus Jakarta Sans"/>
              </a:rPr>
              <a:t>вибору</a:t>
            </a:r>
            <a:r>
              <a:rPr sz="1650" b="0" i="0" u="none" dirty="0">
                <a:solidFill>
                  <a:srgbClr val="A8A29E"/>
                </a:solidFill>
                <a:latin typeface="Plus Jakarta Sans"/>
              </a:rPr>
              <a:t> </a:t>
            </a:r>
            <a:r>
              <a:rPr sz="1650" b="0" i="0" u="none" dirty="0" err="1">
                <a:solidFill>
                  <a:srgbClr val="A8A29E"/>
                </a:solidFill>
                <a:latin typeface="Plus Jakarta Sans"/>
              </a:rPr>
              <a:t>та</a:t>
            </a:r>
            <a:r>
              <a:rPr sz="1650" b="0" i="0" u="none" dirty="0">
                <a:solidFill>
                  <a:srgbClr val="A8A29E"/>
                </a:solidFill>
                <a:latin typeface="Plus Jakarta Sans"/>
              </a:rPr>
              <a:t> </a:t>
            </a:r>
            <a:r>
              <a:rPr sz="1650" b="0" i="0" u="none" dirty="0" err="1">
                <a:solidFill>
                  <a:srgbClr val="A8A29E"/>
                </a:solidFill>
                <a:latin typeface="Plus Jakarta Sans"/>
              </a:rPr>
              <a:t>абсолютна</a:t>
            </a:r>
            <a:r>
              <a:rPr sz="1650" b="0" i="0" u="none" dirty="0">
                <a:solidFill>
                  <a:srgbClr val="A8A29E"/>
                </a:solidFill>
                <a:latin typeface="Plus Jakarta Sans"/>
              </a:rPr>
              <a:t> </a:t>
            </a:r>
            <a:r>
              <a:rPr sz="1650" b="0" i="0" u="none" dirty="0" err="1">
                <a:solidFill>
                  <a:srgbClr val="A8A29E"/>
                </a:solidFill>
                <a:latin typeface="Plus Jakarta Sans"/>
              </a:rPr>
              <a:t>відповідальність</a:t>
            </a:r>
            <a:r>
              <a:rPr sz="1650" b="0" i="0" u="none" dirty="0">
                <a:solidFill>
                  <a:srgbClr val="A8A29E"/>
                </a:solidFill>
                <a:latin typeface="Plus Jakarta Sans"/>
              </a:rPr>
              <a:t> </a:t>
            </a:r>
            <a:r>
              <a:rPr sz="1650" b="0" i="0" u="none" dirty="0" err="1">
                <a:solidFill>
                  <a:srgbClr val="A8A29E"/>
                </a:solidFill>
                <a:latin typeface="Plus Jakarta Sans"/>
              </a:rPr>
              <a:t>перед</a:t>
            </a:r>
            <a:r>
              <a:rPr sz="1650" b="0" i="0" u="none" dirty="0">
                <a:solidFill>
                  <a:srgbClr val="A8A29E"/>
                </a:solidFill>
                <a:latin typeface="Plus Jakarta Sans"/>
              </a:rPr>
              <a:t> </a:t>
            </a:r>
            <a:r>
              <a:rPr sz="1650" b="0" i="0" u="none" dirty="0" err="1">
                <a:solidFill>
                  <a:srgbClr val="A8A29E"/>
                </a:solidFill>
                <a:latin typeface="Plus Jakarta Sans"/>
              </a:rPr>
              <a:t>буттям</a:t>
            </a:r>
            <a:endParaRPr lang="uk-UA" sz="1650" b="0" i="0" u="none" dirty="0">
              <a:solidFill>
                <a:srgbClr val="A8A29E"/>
              </a:solidFill>
              <a:latin typeface="Plus Jakarta Sans"/>
            </a:endParaRPr>
          </a:p>
          <a:p>
            <a:pPr algn="ctr">
              <a:lnSpc>
                <a:spcPts val="2310"/>
              </a:lnSpc>
            </a:pPr>
            <a:endParaRPr lang="uk-UA" sz="1650" dirty="0">
              <a:solidFill>
                <a:srgbClr val="A8A29E"/>
              </a:solidFill>
              <a:latin typeface="Plus Jakarta Sans"/>
            </a:endParaRPr>
          </a:p>
          <a:p>
            <a:pPr algn="ctr">
              <a:lnSpc>
                <a:spcPts val="2310"/>
              </a:lnSpc>
            </a:pPr>
            <a:r>
              <a:rPr lang="ru-RU" sz="1650" b="0" i="0" u="none" dirty="0" err="1">
                <a:solidFill>
                  <a:srgbClr val="A8A29E"/>
                </a:solidFill>
                <a:latin typeface="Plus Jakarta Sans"/>
              </a:rPr>
              <a:t>Виконав</a:t>
            </a:r>
            <a:r>
              <a:rPr lang="ru-RU" sz="1650" b="0" i="0" u="none" dirty="0">
                <a:solidFill>
                  <a:srgbClr val="A8A29E"/>
                </a:solidFill>
                <a:latin typeface="Plus Jakarta Sans"/>
              </a:rPr>
              <a:t> студент групи КН-25-1</a:t>
            </a:r>
          </a:p>
          <a:p>
            <a:pPr algn="ctr">
              <a:lnSpc>
                <a:spcPts val="2310"/>
              </a:lnSpc>
            </a:pPr>
            <a:r>
              <a:rPr lang="ru-RU" sz="1650" dirty="0" err="1">
                <a:solidFill>
                  <a:srgbClr val="A8A29E"/>
                </a:solidFill>
                <a:latin typeface="Plus Jakarta Sans"/>
              </a:rPr>
              <a:t>Гордієнко</a:t>
            </a:r>
            <a:r>
              <a:rPr lang="ru-RU" sz="1650" dirty="0">
                <a:solidFill>
                  <a:srgbClr val="A8A29E"/>
                </a:solidFill>
                <a:latin typeface="Plus Jakarta Sans"/>
              </a:rPr>
              <a:t> Владислав</a:t>
            </a:r>
            <a:endParaRPr lang="uk-UA" sz="1650" dirty="0">
              <a:solidFill>
                <a:srgbClr val="A8A29E"/>
              </a:solidFill>
              <a:latin typeface="Plus Jakarta Sans"/>
            </a:endParaRPr>
          </a:p>
          <a:p>
            <a:pPr algn="ctr">
              <a:lnSpc>
                <a:spcPts val="2310"/>
              </a:lnSpc>
            </a:pPr>
            <a:endParaRPr lang="uk-UA" sz="1650" b="0" i="0" u="none" dirty="0">
              <a:solidFill>
                <a:srgbClr val="A8A29E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38450"/>
            <a:ext cx="3454449" cy="2181225"/>
          </a:xfrm>
          <a:prstGeom prst="roundRect">
            <a:avLst>
              <a:gd name="adj" fmla="val 524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68849" y="2838450"/>
            <a:ext cx="3454449" cy="2181225"/>
          </a:xfrm>
          <a:prstGeom prst="roundRect">
            <a:avLst>
              <a:gd name="adj" fmla="val 524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128099" y="2838450"/>
            <a:ext cx="3454449" cy="2181225"/>
          </a:xfrm>
          <a:prstGeom prst="roundRect">
            <a:avLst>
              <a:gd name="adj" fmla="val 524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143250"/>
            <a:ext cx="257175" cy="3429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649" y="3143250"/>
            <a:ext cx="342900" cy="342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2899" y="3143250"/>
            <a:ext cx="428625" cy="3429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852221"/>
                </a:solidFill>
                <a:latin typeface="Cinzel"/>
              </a:rPr>
              <a:t>КОНТЕКСТ ЕПОХИ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14375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C1917"/>
                </a:solidFill>
                <a:latin typeface="Plus Jakarta Sans"/>
              </a:rPr>
              <a:t>Що таке екзистенціалізм?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38550"/>
            <a:ext cx="3733865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C1917"/>
                </a:solidFill>
                <a:latin typeface="Plus Jakarta Sans"/>
              </a:rPr>
              <a:t>Філософія існування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29075"/>
            <a:ext cx="294009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7534E"/>
                </a:solidFill>
                <a:latin typeface="Plus Jakarta Sans"/>
              </a:rPr>
              <a:t>Фокус на унікальності людського проживання моменту та особистого досвіду.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3649" y="3638550"/>
            <a:ext cx="3733865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C1917"/>
                </a:solidFill>
                <a:latin typeface="Plus Jakarta Sans"/>
              </a:rPr>
              <a:t>Відповідь на кризи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649" y="4029075"/>
            <a:ext cx="294009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7534E"/>
                </a:solidFill>
                <a:latin typeface="Plus Jakarta Sans"/>
              </a:rPr>
              <a:t>Реакція на світові війни, тоталітаризм і знецінення окремого життя.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2899" y="3638550"/>
            <a:ext cx="3733865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C1917"/>
                </a:solidFill>
                <a:latin typeface="Plus Jakarta Sans"/>
              </a:rPr>
              <a:t>Практичний вимір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2899" y="4029075"/>
            <a:ext cx="294009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7534E"/>
                </a:solidFill>
                <a:latin typeface="Plus Jakarta Sans"/>
              </a:rPr>
              <a:t>Не абстрактні теорії, а орієнтири для конкретної дії та самовизначення.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62275"/>
            <a:ext cx="5334000" cy="1933575"/>
          </a:xfrm>
          <a:prstGeom prst="roundRect">
            <a:avLst>
              <a:gd name="adj" fmla="val 591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962275"/>
            <a:ext cx="5334000" cy="1933575"/>
          </a:xfrm>
          <a:prstGeom prst="roundRect">
            <a:avLst>
              <a:gd name="adj" fmla="val 591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2962275"/>
            <a:ext cx="5334000" cy="381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248400" y="2962275"/>
            <a:ext cx="5334000" cy="38100"/>
          </a:xfrm>
          <a:prstGeom prst="rect">
            <a:avLst/>
          </a:prstGeom>
          <a:solidFill>
            <a:srgbClr val="852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852221"/>
                </a:solidFill>
                <a:latin typeface="Cinzel"/>
              </a:rPr>
              <a:t>ФУНДАМЕНТАЛЬНА ФОРМУЛА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14375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C1917"/>
                </a:solidFill>
                <a:latin typeface="Plus Jakarta Sans"/>
              </a:rPr>
              <a:t>«Існування передує сутності»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3343275"/>
            <a:ext cx="6100762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C1917"/>
                </a:solidFill>
                <a:latin typeface="Plus Jakarta Sans"/>
              </a:rPr>
              <a:t>Класична філософія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3752850"/>
            <a:ext cx="581025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57534E"/>
                </a:solidFill>
                <a:latin typeface="Plus Jakarta Sans"/>
              </a:rPr>
              <a:t>Сутність → Існування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4095750"/>
            <a:ext cx="4743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7534E"/>
                </a:solidFill>
                <a:latin typeface="Plus Jakarta Sans"/>
              </a:rPr>
              <a:t>Людина створюється за готовим шаблоном або наперед визначеною долею.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91300" y="3343275"/>
            <a:ext cx="560070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C1917"/>
                </a:solidFill>
                <a:latin typeface="Plus Jakarta Sans"/>
              </a:rPr>
              <a:t>Екзистенціалізм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91300" y="3752850"/>
            <a:ext cx="56007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852221"/>
                </a:solidFill>
                <a:latin typeface="Plus Jakarta Sans"/>
              </a:rPr>
              <a:t>Існування → Сутність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1300" y="4095750"/>
            <a:ext cx="4743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7534E"/>
                </a:solidFill>
                <a:latin typeface="Plus Jakarta Sans"/>
              </a:rPr>
              <a:t>Спочатку людина виникає у світі, а потім творить себе власними вчинками.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686300" y="2252662"/>
            <a:ext cx="689610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686300" y="3433762"/>
            <a:ext cx="689610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686300" y="4614862"/>
            <a:ext cx="689610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738312"/>
            <a:ext cx="3619500" cy="4381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738312"/>
            <a:ext cx="3619500" cy="4381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852221"/>
                </a:solidFill>
                <a:latin typeface="Cinzel"/>
              </a:rPr>
              <a:t>ВИТОКИ ЕКЗИСТЕНЦІАЛІЗМУ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14375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C1917"/>
                </a:solidFill>
                <a:latin typeface="Plus Jakarta Sans"/>
              </a:rPr>
              <a:t>Сьорен К'єркегор: Страх і особистий вибір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14900" y="2481262"/>
            <a:ext cx="72771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C1917"/>
                </a:solidFill>
                <a:latin typeface="Plus Jakarta Sans"/>
              </a:rPr>
              <a:t>Поняття екзистенційного страху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14900" y="2786062"/>
            <a:ext cx="72771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7534E"/>
                </a:solidFill>
                <a:latin typeface="Plus Jakarta Sans"/>
              </a:rPr>
              <a:t>Страх перед невідомістю та запаморочення від безмежної свободи.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14900" y="3662362"/>
            <a:ext cx="72771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C1917"/>
                </a:solidFill>
                <a:latin typeface="Plus Jakarta Sans"/>
              </a:rPr>
              <a:t>«Або-Або»: Неминучість рішення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14900" y="3967162"/>
            <a:ext cx="72771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7534E"/>
                </a:solidFill>
                <a:latin typeface="Plus Jakarta Sans"/>
              </a:rPr>
              <a:t>Неможливість ухилитися від вибору у критичних точках життя.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14900" y="4843462"/>
            <a:ext cx="72771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C1917"/>
                </a:solidFill>
                <a:latin typeface="Plus Jakarta Sans"/>
              </a:rPr>
              <a:t>Один проти системи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4900" y="5148262"/>
            <a:ext cx="72771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7534E"/>
                </a:solidFill>
                <a:latin typeface="Plus Jakarta Sans"/>
              </a:rPr>
              <a:t>Пріоритет індивідуального духовного досвіду над абстрактним розумом.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43237"/>
            <a:ext cx="3505200" cy="177165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3043237"/>
            <a:ext cx="3505200" cy="177165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3043237"/>
            <a:ext cx="3505200" cy="1771650"/>
          </a:xfrm>
          <a:prstGeom prst="roundRect">
            <a:avLst>
              <a:gd name="adj" fmla="val 645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3309937"/>
            <a:ext cx="3048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0100" y="3309937"/>
            <a:ext cx="2667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3900" y="3309937"/>
            <a:ext cx="3429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852221"/>
                </a:solidFill>
                <a:latin typeface="Cinzel"/>
              </a:rPr>
              <a:t>ВИТОКИ ЕКЗИСТЕНЦІАЛІЗМУ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14375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C1917"/>
                </a:solidFill>
                <a:latin typeface="Plus Jakarta Sans"/>
              </a:rPr>
              <a:t>Фрідріх Ніцше: Переоцінка цінностей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3767137"/>
            <a:ext cx="3900487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C1917"/>
                </a:solidFill>
                <a:latin typeface="Plus Jakarta Sans"/>
              </a:rPr>
              <a:t>Криза догм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4090987"/>
            <a:ext cx="30670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7534E"/>
                </a:solidFill>
                <a:latin typeface="Plus Jakarta Sans"/>
              </a:rPr>
              <a:t>Крах традиційних моральних та релігійних авторитетів.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0100" y="3767137"/>
            <a:ext cx="3900487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C1917"/>
                </a:solidFill>
                <a:latin typeface="Plus Jakarta Sans"/>
              </a:rPr>
              <a:t>Воля до самотворення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0100" y="4090987"/>
            <a:ext cx="30670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7534E"/>
                </a:solidFill>
                <a:latin typeface="Plus Jakarta Sans"/>
              </a:rPr>
              <a:t>Завдання людини — сформувати власні орієнтири у світі.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3900" y="3767137"/>
            <a:ext cx="38481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C1917"/>
                </a:solidFill>
                <a:latin typeface="Plus Jakarta Sans"/>
              </a:rPr>
              <a:t>Автономія особистості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3900" y="4090987"/>
            <a:ext cx="30670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7534E"/>
                </a:solidFill>
                <a:latin typeface="Plus Jakarta Sans"/>
              </a:rPr>
              <a:t>Відмова від пасивного слідування за масовою свідомістю.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D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810250" y="3638550"/>
            <a:ext cx="571500" cy="28575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634526" y="2505075"/>
            <a:ext cx="2922798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852221"/>
                </a:solidFill>
                <a:latin typeface="Cinzel"/>
              </a:rPr>
              <a:t>РОЗКВІТ У XX СТОЛІТТІ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9259" y="2828925"/>
            <a:ext cx="8213331" cy="619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1C1917"/>
                </a:solidFill>
                <a:latin typeface="Cinzel"/>
              </a:rPr>
              <a:t>Французький екзистенціалізм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857625"/>
            <a:ext cx="762000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57534E"/>
                </a:solidFill>
                <a:latin typeface="Plus Jakarta Sans"/>
              </a:rPr>
              <a:t>Концепції Сартра, Камю та Бовуар про свободу, абсурд і соціальну відповідальність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686300" y="2252662"/>
            <a:ext cx="689610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686300" y="3433762"/>
            <a:ext cx="689610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686300" y="4614862"/>
            <a:ext cx="689610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738312"/>
            <a:ext cx="3619500" cy="4381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738312"/>
            <a:ext cx="3619500" cy="4381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852221"/>
                </a:solidFill>
                <a:latin typeface="Cinzel"/>
              </a:rPr>
              <a:t>АБСОЛЮТНА СВОБОДА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14375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C1917"/>
                </a:solidFill>
                <a:latin typeface="Plus Jakarta Sans"/>
              </a:rPr>
              <a:t>Жан-Поль Сартр: «Людина приречена бути вільною»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14900" y="2481262"/>
            <a:ext cx="72771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C1917"/>
                </a:solidFill>
                <a:latin typeface="Plus Jakarta Sans"/>
              </a:rPr>
              <a:t>Свобода як факт буття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14900" y="2786062"/>
            <a:ext cx="72771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7534E"/>
                </a:solidFill>
                <a:latin typeface="Plus Jakarta Sans"/>
              </a:rPr>
              <a:t>Ми не можемо зняти з себе свободу, навіть відмова від вибору є вибором.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14900" y="3662362"/>
            <a:ext cx="72771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C1917"/>
                </a:solidFill>
                <a:latin typeface="Plus Jakarta Sans"/>
              </a:rPr>
              <a:t>Відсутність алібі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14900" y="3967162"/>
            <a:ext cx="72771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7534E"/>
                </a:solidFill>
                <a:latin typeface="Plus Jakarta Sans"/>
              </a:rPr>
              <a:t>Неможливо виправдати вчинки зовнішніми обставинами чи почуттями.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14900" y="4843462"/>
            <a:ext cx="72771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C1917"/>
                </a:solidFill>
                <a:latin typeface="Plus Jakarta Sans"/>
              </a:rPr>
              <a:t>«Несумлінність» (Mauvaise Foi)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4900" y="5148262"/>
            <a:ext cx="72771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7534E"/>
                </a:solidFill>
                <a:latin typeface="Plus Jakarta Sans"/>
              </a:rPr>
              <a:t>Самообман через перекладання відповідальності на суспільство чи роль.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62262"/>
            <a:ext cx="3454449" cy="21336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68849" y="2928937"/>
            <a:ext cx="3454449" cy="20002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128099" y="2928937"/>
            <a:ext cx="3454449" cy="20002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400" y="3233737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6649" y="3233737"/>
            <a:ext cx="45720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852221"/>
                </a:solidFill>
                <a:latin typeface="Cinzel"/>
              </a:rPr>
              <a:t>ПСИХОЛОГІЧНИЙ ВИМІР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14375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C1917"/>
                </a:solidFill>
                <a:latin typeface="Plus Jakarta Sans"/>
              </a:rPr>
              <a:t>Тривога, покинутість та тотальна відповідальність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8793" y="3167062"/>
            <a:ext cx="3556062" cy="666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200" b="1" i="0" u="none">
                <a:solidFill>
                  <a:srgbClr val="852221"/>
                </a:solidFill>
                <a:latin typeface="Plus Jakarta Sans"/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892" y="3910012"/>
            <a:ext cx="373386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1C1917"/>
                </a:solidFill>
                <a:latin typeface="Plus Jakarta Sans"/>
              </a:rPr>
              <a:t>Відповідальність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8793" y="4233862"/>
            <a:ext cx="355606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57534E"/>
                </a:solidFill>
                <a:latin typeface="Plus Jakarta Sans"/>
              </a:rPr>
              <a:t>Обираючи для себе, людина обирає образ усього людства.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29141" y="3843337"/>
            <a:ext cx="373386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1C1917"/>
                </a:solidFill>
                <a:latin typeface="Plus Jakarta Sans"/>
              </a:rPr>
              <a:t>Покинутість у світі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8043" y="4167187"/>
            <a:ext cx="355606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57534E"/>
                </a:solidFill>
                <a:latin typeface="Plus Jakarta Sans"/>
              </a:rPr>
              <a:t>Відсутність зовнішніх абсолютних орієнтирів та підтримки.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88391" y="3843337"/>
            <a:ext cx="373386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1C1917"/>
                </a:solidFill>
                <a:latin typeface="Plus Jakarta Sans"/>
              </a:rPr>
              <a:t>Екзистенційна тривога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7293" y="4167187"/>
            <a:ext cx="355606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57534E"/>
                </a:solidFill>
                <a:latin typeface="Plus Jakarta Sans"/>
              </a:rPr>
              <a:t>Усвідомлення ваги кожного прийнятого рішення.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686300" y="2252662"/>
            <a:ext cx="689610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686300" y="3433762"/>
            <a:ext cx="689610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686300" y="4614862"/>
            <a:ext cx="689610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738312"/>
            <a:ext cx="3619500" cy="4381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738312"/>
            <a:ext cx="3619500" cy="4381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852221"/>
                </a:solidFill>
                <a:latin typeface="Cinzel"/>
              </a:rPr>
              <a:t>ФІЛОСОФІЯ АБСУРДУ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14375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C1917"/>
                </a:solidFill>
                <a:latin typeface="Plus Jakarta Sans"/>
              </a:rPr>
              <a:t>Альбер Камю: Абсурд та Міф про Сізіфа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14900" y="2481262"/>
            <a:ext cx="72771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C1917"/>
                </a:solidFill>
                <a:latin typeface="Plus Jakarta Sans"/>
              </a:rPr>
              <a:t>Природа абсурду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14900" y="2786062"/>
            <a:ext cx="72771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7534E"/>
                </a:solidFill>
                <a:latin typeface="Plus Jakarta Sans"/>
              </a:rPr>
              <a:t>Розрив між прагненням людини до сенсу та мовчанням Всесвіту.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14900" y="3662362"/>
            <a:ext cx="72771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C1917"/>
                </a:solidFill>
                <a:latin typeface="Plus Jakarta Sans"/>
              </a:rPr>
              <a:t>Метафора Сізіфа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14900" y="3967162"/>
            <a:ext cx="72771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7534E"/>
                </a:solidFill>
                <a:latin typeface="Plus Jakarta Sans"/>
              </a:rPr>
              <a:t>Безкінечне піднімання каменя як символ людського існування.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14900" y="4843462"/>
            <a:ext cx="72771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C1917"/>
                </a:solidFill>
                <a:latin typeface="Plus Jakarta Sans"/>
              </a:rPr>
              <a:t>«Треба уявити Сізіфа щасливим»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4900" y="5148262"/>
            <a:ext cx="72771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7534E"/>
                </a:solidFill>
                <a:latin typeface="Plus Jakarta Sans"/>
              </a:rPr>
              <a:t>Прийняття своєї долі створює внутрішню свободу і перемогу.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143250"/>
            <a:ext cx="3454449" cy="1571625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68849" y="3143250"/>
            <a:ext cx="3454449" cy="1571625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128099" y="3143250"/>
            <a:ext cx="3454449" cy="1571625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852221"/>
                </a:solidFill>
                <a:latin typeface="Cinzel"/>
              </a:rPr>
              <a:t>ШЛЯХ ПОДОЛАННЯ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14375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C1917"/>
                </a:solidFill>
                <a:latin typeface="Plus Jakarta Sans"/>
              </a:rPr>
              <a:t>Бунт як основа людської гідності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48050"/>
            <a:ext cx="3733865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852221"/>
                </a:solidFill>
                <a:latin typeface="Plus Jakarta Sans"/>
              </a:rPr>
              <a:t>Відмова від суїциду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38575"/>
            <a:ext cx="294009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7534E"/>
                </a:solidFill>
                <a:latin typeface="Plus Jakarta Sans"/>
              </a:rPr>
              <a:t>Самогубство — це втеча та капітуляція перед абсурдом.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3649" y="3448050"/>
            <a:ext cx="3733865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B45309"/>
                </a:solidFill>
                <a:latin typeface="Plus Jakarta Sans"/>
              </a:rPr>
              <a:t>Бунтівна людина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73649" y="3838575"/>
            <a:ext cx="294009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7534E"/>
                </a:solidFill>
                <a:latin typeface="Plus Jakarta Sans"/>
              </a:rPr>
              <a:t>«Я бунтую, отже, ми існуємо» — перехід від Я до Спільноти.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32899" y="3448050"/>
            <a:ext cx="3733865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852221"/>
                </a:solidFill>
                <a:latin typeface="Plus Jakarta Sans"/>
              </a:rPr>
              <a:t>Етика солідарності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32899" y="3838575"/>
            <a:ext cx="294009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7534E"/>
                </a:solidFill>
                <a:latin typeface="Plus Jakarta Sans"/>
              </a:rPr>
              <a:t>Захист людської гідності перед обличчям спільної долі.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686300" y="2252662"/>
            <a:ext cx="689610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686300" y="3433762"/>
            <a:ext cx="689610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686300" y="4614862"/>
            <a:ext cx="689610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738312"/>
            <a:ext cx="3619500" cy="4381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738312"/>
            <a:ext cx="3619500" cy="4381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852221"/>
                </a:solidFill>
                <a:latin typeface="Cinzel"/>
              </a:rPr>
              <a:t>СОЦІАЛЬНИЙ ВИМІР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14375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C1917"/>
                </a:solidFill>
                <a:latin typeface="Plus Jakarta Sans"/>
              </a:rPr>
              <a:t>Симона де Бовуар: Свобода та проекція на Іншого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14900" y="2481262"/>
            <a:ext cx="72771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C1917"/>
                </a:solidFill>
                <a:latin typeface="Plus Jakarta Sans"/>
              </a:rPr>
              <a:t>Взаємозалежність свобод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14900" y="2786062"/>
            <a:ext cx="72771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7534E"/>
                </a:solidFill>
                <a:latin typeface="Plus Jakarta Sans"/>
              </a:rPr>
              <a:t>Свобода однієї людини потребує свободи всіх інших для реалізації.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14900" y="3662362"/>
            <a:ext cx="72771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C1917"/>
                </a:solidFill>
                <a:latin typeface="Plus Jakarta Sans"/>
              </a:rPr>
              <a:t>Подолання конструктів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14900" y="3967162"/>
            <a:ext cx="72771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7534E"/>
                </a:solidFill>
                <a:latin typeface="Plus Jakarta Sans"/>
              </a:rPr>
              <a:t>«Жінкою не народжуються, нею стають» — звільнення від ролей.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14900" y="4843462"/>
            <a:ext cx="72771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C1917"/>
                </a:solidFill>
                <a:latin typeface="Plus Jakarta Sans"/>
              </a:rPr>
              <a:t>Етика неоднозначності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4900" y="5148262"/>
            <a:ext cx="72771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7534E"/>
                </a:solidFill>
                <a:latin typeface="Plus Jakarta Sans"/>
              </a:rPr>
              <a:t>Створення цінностей у світі без гарантованих відповідей.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09900"/>
            <a:ext cx="5334000" cy="1838325"/>
          </a:xfrm>
          <a:prstGeom prst="roundRect">
            <a:avLst>
              <a:gd name="adj" fmla="val 621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3009900"/>
            <a:ext cx="5334000" cy="1838325"/>
          </a:xfrm>
          <a:prstGeom prst="roundRect">
            <a:avLst>
              <a:gd name="adj" fmla="val 621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852221"/>
                </a:solidFill>
                <a:latin typeface="Cinzel"/>
              </a:rPr>
              <a:t>ТИПОЛОГІЯ ТЕЧІЙ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14375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C1917"/>
                </a:solidFill>
                <a:latin typeface="Plus Jakarta Sans"/>
              </a:rPr>
              <a:t>Два напрями екзистенціалізму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14700"/>
            <a:ext cx="6200775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852221"/>
                </a:solidFill>
                <a:latin typeface="Plus Jakarta Sans"/>
              </a:rPr>
              <a:t>Релігійний крило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05225"/>
            <a:ext cx="59055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7534E"/>
                </a:solidFill>
                <a:latin typeface="Plus Jakarta Sans"/>
              </a:rPr>
              <a:t>• Представники: К'єркегор, Ясперс, Марсель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10025"/>
            <a:ext cx="59055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7534E"/>
                </a:solidFill>
                <a:latin typeface="Plus Jakarta Sans"/>
              </a:rPr>
              <a:t>• Свобода як стрибок у віру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14825"/>
            <a:ext cx="59055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7534E"/>
                </a:solidFill>
                <a:latin typeface="Plus Jakarta Sans"/>
              </a:rPr>
              <a:t>• Пошук трансцендентного сенсу буття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3200" y="3314700"/>
            <a:ext cx="563880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B45309"/>
                </a:solidFill>
                <a:latin typeface="Plus Jakarta Sans"/>
              </a:rPr>
              <a:t>Атеїстичне крило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200" y="3705225"/>
            <a:ext cx="56388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7534E"/>
                </a:solidFill>
                <a:latin typeface="Plus Jakarta Sans"/>
              </a:rPr>
              <a:t>• Представники: Сартр, Камю, Гайдеґґер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3200" y="4010025"/>
            <a:ext cx="56388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7534E"/>
                </a:solidFill>
                <a:latin typeface="Plus Jakarta Sans"/>
              </a:rPr>
              <a:t>• Свобода у світі без Бога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200" y="4314825"/>
            <a:ext cx="56388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7534E"/>
                </a:solidFill>
                <a:latin typeface="Plus Jakarta Sans"/>
              </a:rPr>
              <a:t>• Сам людина творить єдиний можливий сенс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24162"/>
            <a:ext cx="537210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2824162"/>
            <a:ext cx="537210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043362"/>
            <a:ext cx="537210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10300" y="4043362"/>
            <a:ext cx="537210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852221"/>
                </a:solidFill>
                <a:latin typeface="Cinzel"/>
              </a:rPr>
              <a:t>СИСТЕМА ПОНЯТЬ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14375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C1917"/>
                </a:solidFill>
                <a:latin typeface="Plus Jakarta Sans"/>
              </a:rPr>
              <a:t>Ключові екзистенціали людського буття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3052762"/>
            <a:ext cx="6450806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852221"/>
                </a:solidFill>
                <a:latin typeface="Plus Jakarta Sans"/>
              </a:rPr>
              <a:t>Відчуження (Alienation)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3357562"/>
            <a:ext cx="614362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7534E"/>
                </a:solidFill>
                <a:latin typeface="Plus Jakarta Sans"/>
              </a:rPr>
              <a:t>Втрата контакту з власною сутністю та суспільством.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38900" y="3052762"/>
            <a:ext cx="57531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852221"/>
                </a:solidFill>
                <a:latin typeface="Plus Jakarta Sans"/>
              </a:rPr>
              <a:t>Самітність (Solitude)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8900" y="3357562"/>
            <a:ext cx="57531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7534E"/>
                </a:solidFill>
                <a:latin typeface="Plus Jakarta Sans"/>
              </a:rPr>
              <a:t>Неминучий екзистенційний стан кожної свідомості.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4271962"/>
            <a:ext cx="6450806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852221"/>
                </a:solidFill>
                <a:latin typeface="Plus Jakarta Sans"/>
              </a:rPr>
              <a:t>Погранична ситуація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4576762"/>
            <a:ext cx="614362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7534E"/>
                </a:solidFill>
                <a:latin typeface="Plus Jakarta Sans"/>
              </a:rPr>
              <a:t>Моменти перед обличчям смерті чи страждання (Карл Ясперс).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8900" y="4271962"/>
            <a:ext cx="57531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852221"/>
                </a:solidFill>
                <a:latin typeface="Plus Jakarta Sans"/>
              </a:rPr>
              <a:t>Автентичність (Authenticity)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8900" y="4576762"/>
            <a:ext cx="57531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7534E"/>
                </a:solidFill>
                <a:latin typeface="Plus Jakarta Sans"/>
              </a:rPr>
              <a:t>Вірність власному вибору та відмова від чужих масок.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686300" y="2252662"/>
            <a:ext cx="689610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686300" y="3433762"/>
            <a:ext cx="689610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686300" y="4614862"/>
            <a:ext cx="6896100" cy="9906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738312"/>
            <a:ext cx="3619500" cy="4381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738312"/>
            <a:ext cx="3619500" cy="4381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852221"/>
                </a:solidFill>
                <a:latin typeface="Cinzel"/>
              </a:rPr>
              <a:t>СУЧАСНИЙ ВИМІР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14375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C1917"/>
                </a:solidFill>
                <a:latin typeface="Plus Jakarta Sans"/>
              </a:rPr>
              <a:t>Актуальність у XXI столітті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14900" y="2481262"/>
            <a:ext cx="72771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C1917"/>
                </a:solidFill>
                <a:latin typeface="Plus Jakarta Sans"/>
              </a:rPr>
              <a:t>Інформаційний шум та втрата орієнтирів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14900" y="2786062"/>
            <a:ext cx="72771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7534E"/>
                </a:solidFill>
                <a:latin typeface="Plus Jakarta Sans"/>
              </a:rPr>
              <a:t>Потреба у власному виборі в епоху алгоритмів і маніпуляцій.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14900" y="3662362"/>
            <a:ext cx="72771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C1917"/>
                </a:solidFill>
                <a:latin typeface="Plus Jakarta Sans"/>
              </a:rPr>
              <a:t>Кризи та невизначеність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14900" y="3967162"/>
            <a:ext cx="72771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7534E"/>
                </a:solidFill>
                <a:latin typeface="Plus Jakarta Sans"/>
              </a:rPr>
              <a:t>Пошук опори всередині себе під час глобальних потрясінь.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14900" y="4843462"/>
            <a:ext cx="72771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C1917"/>
                </a:solidFill>
                <a:latin typeface="Plus Jakarta Sans"/>
              </a:rPr>
              <a:t>Особиста відповідальність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4900" y="5148262"/>
            <a:ext cx="72771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57534E"/>
                </a:solidFill>
                <a:latin typeface="Plus Jakarta Sans"/>
              </a:rPr>
              <a:t>Розуміння, що майбутнє будується щоденними вчинками.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7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757082" y="3076575"/>
            <a:ext cx="8659906" cy="1381125"/>
          </a:xfrm>
          <a:prstGeom prst="roundRect">
            <a:avLst>
              <a:gd name="adj" fmla="val 8275"/>
            </a:avLst>
          </a:prstGeom>
          <a:solidFill>
            <a:srgbClr val="262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775012" y="3076575"/>
            <a:ext cx="38100" cy="1381125"/>
          </a:xfrm>
          <a:prstGeom prst="rect">
            <a:avLst/>
          </a:prstGeom>
          <a:solidFill>
            <a:srgbClr val="852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428952" y="1866900"/>
            <a:ext cx="1333946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B45309"/>
                </a:solidFill>
                <a:latin typeface="Cinzel"/>
              </a:rPr>
              <a:t>ПІДСУМОК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29127" y="2228850"/>
            <a:ext cx="4333744" cy="619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FAFAF9"/>
                </a:solidFill>
                <a:latin typeface="Cinzel"/>
              </a:rPr>
              <a:t>Дякую за увагу!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85925" y="3343275"/>
            <a:ext cx="885825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sz="1500" b="0" i="1" u="none">
                <a:solidFill>
                  <a:srgbClr val="D1D5DB"/>
                </a:solidFill>
                <a:latin typeface="Plus Jakarta Sans"/>
              </a:rPr>
              <a:t>«Людина є нічим іншим, як її власним проектом, і вона існує лише настільки, наскільки реалізує себе.»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85925" y="3990975"/>
            <a:ext cx="88582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B45309"/>
                </a:solidFill>
                <a:latin typeface="Plus Jakarta Sans"/>
              </a:rPr>
              <a:t>— Жан-Поль Сартр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625</Words>
  <Application>Microsoft Office PowerPoint</Application>
  <PresentationFormat>Широкоэкранный</PresentationFormat>
  <Paragraphs>114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0" baseType="lpstr">
      <vt:lpstr>Plus Jakarta Sans</vt:lpstr>
      <vt:lpstr>Arial</vt:lpstr>
      <vt:lpstr>Calibri</vt:lpstr>
      <vt:lpstr>Cinzel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MonSTeR _NAVI</cp:lastModifiedBy>
  <cp:revision>2</cp:revision>
  <dcterms:created xsi:type="dcterms:W3CDTF">2013-01-27T09:14:16Z</dcterms:created>
  <dcterms:modified xsi:type="dcterms:W3CDTF">2026-10-13T17:14:38Z</dcterms:modified>
  <cp:category/>
</cp:coreProperties>
</file>